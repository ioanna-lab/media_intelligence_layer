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047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640080" cy="64008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1143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Intelligence Agent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16276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2A5"/>
                </a:solidFill>
              </a:rPr>
              <a:t>AUTONOMOUS COMPETITIVE BENCHMARKING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743200" cy="3657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8B92A5"/>
                </a:solidFill>
              </a:rPr>
              <a:t>Ironhack</a:t>
            </a:r>
            <a:r>
              <a:rPr lang="en-US" sz="1500" dirty="0">
                <a:solidFill>
                  <a:srgbClr val="8B92A5"/>
                </a:solidFill>
              </a:rPr>
              <a:t> AI consultant · Project 3 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2A5"/>
                </a:solidFill>
              </a:rPr>
              <a:t>Ioanna Renta </a:t>
            </a:r>
            <a:r>
              <a:rPr lang="en-US" sz="1300">
                <a:solidFill>
                  <a:srgbClr val="8B92A5"/>
                </a:solidFill>
              </a:rPr>
              <a:t>· August </a:t>
            </a:r>
            <a:r>
              <a:rPr lang="en-US" sz="1300" dirty="0">
                <a:solidFill>
                  <a:srgbClr val="8B92A5"/>
                </a:solidFill>
              </a:rPr>
              <a:t>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it an outlet. Get back a validated benchmark.</a:t>
            </a:r>
          </a:p>
          <a:p>
            <a:r>
              <a:rPr lang="en-US" sz="1600" i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https://media-intelligence-</a:t>
            </a:r>
            <a:r>
              <a:rPr lang="en-US" sz="1600" i="1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layer.onrender.com</a:t>
            </a:r>
            <a:r>
              <a:rPr lang="en-US" sz="1600" i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0392B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analysis is slow, manual, and inconsistent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18872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⏱  Time-consuming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Manually researching a single outlet takes days of analyst time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3931920" cy="118872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🎭  Subjective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9202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Different analysts reach different conclusions on the same outlet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931920" cy="118872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📉  Shallow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Reports rely on surface-level data — no temporal drift, no competitor context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3931920" cy="118872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2971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🔄  Not repeatable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291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No standardised scoring framework means briefs cannot be compared over time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D4A853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autonomous agent that does it in 7 minutes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920240" cy="2560320"/>
          </a:xfrm>
          <a:prstGeom prst="rect">
            <a:avLst/>
          </a:prstGeom>
          <a:solidFill>
            <a:srgbClr val="1B2A3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1783080"/>
            <a:ext cx="594360" cy="5943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Name an outlet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2A5"/>
                </a:solidFill>
              </a:rPr>
              <a:t>Type "Reuters" in the UI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23160" y="2697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0392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60320" y="1645920"/>
            <a:ext cx="1920240" cy="2560320"/>
          </a:xfrm>
          <a:prstGeom prst="rect">
            <a:avLst/>
          </a:prstGeom>
          <a:solidFill>
            <a:srgbClr val="1B2A3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783080"/>
            <a:ext cx="594360" cy="5943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51760" y="2514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researches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9718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2A5"/>
                </a:solidFill>
              </a:rPr>
              <a:t>7 data sources · 3 outlets · 3 time windows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2697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0392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1645920"/>
            <a:ext cx="1920240" cy="2560320"/>
          </a:xfrm>
          <a:prstGeom prst="rect">
            <a:avLst/>
          </a:prstGeom>
          <a:solidFill>
            <a:srgbClr val="1B2A3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03520" y="1783080"/>
            <a:ext cx="594360" cy="5943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2514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Consensus scoring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9718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2A5"/>
                </a:solidFill>
              </a:rPr>
              <a:t>54 LLM evaluations · Krippendorff Alpha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29400" y="2697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0392B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766560" y="1645920"/>
            <a:ext cx="1920240" cy="2560320"/>
          </a:xfrm>
          <a:prstGeom prst="rect">
            <a:avLst/>
          </a:prstGeom>
          <a:solidFill>
            <a:srgbClr val="1B2A3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06640" y="1783080"/>
            <a:ext cx="594360" cy="5943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0664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2514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Report delivered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29718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2A5"/>
                </a:solidFill>
              </a:rPr>
              <a:t>Browser · Notion · Slack · Gmail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0392B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pipeline · 6 nodes · autonomous orchestration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23444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Identify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Competitors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36192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</a:rPr>
              <a:t>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1143000"/>
            <a:ext cx="123444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91640" y="114300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Research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 Outlets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53512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1143000"/>
            <a:ext cx="123444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08960" y="114300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Retrieval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70832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26280" y="1143000"/>
            <a:ext cx="123444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26280" y="114300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Drift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88152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143000"/>
            <a:ext cx="123444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0" y="114300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Consensus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Scoring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05472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60920" y="1143000"/>
            <a:ext cx="123444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60920" y="114300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Generate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194560"/>
            <a:ext cx="8595360" cy="68580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7 Data Sources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2286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Tavily · NewsAPI · Guardian API · Wikipedia · Wayback Machine · RSS · GDELT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8595360" cy="68580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RAG 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03120" y="31089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Pinecone · 11 industry documents · text-embedding-3-small · semantic retrieval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840480"/>
            <a:ext cx="8595360" cy="68580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Delivery Layer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03120" y="39319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FastAPI · Notion database · N8N workflows · Slack · Gmail · ngrok / Render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0392B"/>
                </a:solidFill>
              </a:rPr>
              <a:t>CONSENSUS SCORING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independent AI evaluators · Krippendorff's Alpha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4630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GPT-4o-mini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temp: 0.3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Conservative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Media Analyst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GPT-5.6-Sol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temp: 1.0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Progressive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Editorial Critic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14630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GPT-5.6-Luna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554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temp: 1.0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1783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Industry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Veteran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Agreement Levels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1920240" cy="91440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4A"/>
                </a:solidFill>
              </a:rPr>
              <a:t>CONSENSUS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α = 1.0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611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A5"/>
                </a:solidFill>
              </a:rPr>
              <a:t>All evaluators agree exactly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06040" y="3063240"/>
            <a:ext cx="1920240" cy="91440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0604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2A"/>
                </a:solidFill>
              </a:rPr>
              <a:t>HIGH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06040" y="3383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α ≥ 0.6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06040" y="3611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A5"/>
                </a:solidFill>
              </a:rPr>
              <a:t>Evaluators broadly agree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3063240"/>
            <a:ext cx="1920240" cy="91440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53"/>
                </a:solidFill>
              </a:rPr>
              <a:t>MODERATE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383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α 0.4–0.6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611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A5"/>
                </a:solidFill>
              </a:rPr>
              <a:t>Some divergence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03720" y="3063240"/>
            <a:ext cx="1920240" cy="91440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0372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</a:rPr>
              <a:t>CONTESTED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03720" y="3383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α &lt; 0.4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03720" y="3611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2A5"/>
                </a:solidFill>
              </a:rPr>
              <a:t>Genuine expert disagreement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D4A853"/>
                </a:solidFill>
              </a:rPr>
              <a:t>THE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browser · Notion · Slack · Gmail · Interactive waiting experience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Executive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2A5"/>
                </a:solidFill>
              </a:rPr>
              <a:t>5-section analyst briefing in plain language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393192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Competitive Scorecard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6184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2A5"/>
                </a:solidFill>
              </a:rPr>
              <a:t>6 dimensions × 3 outlets — with alpha confidence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393192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Competitive Position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24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2A5"/>
                </a:solidFill>
              </a:rPr>
              <a:t>Market leadership, editorial differentiation, trajectory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240280"/>
            <a:ext cx="393192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Temporal Drift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624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2A5"/>
                </a:solidFill>
              </a:rPr>
              <a:t>Emerging, fading, stable themes across 30/90/180 days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393192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337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Per-Outlet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6301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2A5"/>
                </a:solidFill>
              </a:rPr>
              <a:t>Research findings, evidence links, source citations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246120"/>
            <a:ext cx="393192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3337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Contested Dimensions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6301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2A5"/>
                </a:solidFill>
              </a:rPr>
              <a:t>Where AI evaluators genuinely disagree — flagged for review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0392B"/>
                </a:solidFill>
              </a:rPr>
              <a:t>INTEGRATIONS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N8N orchestrates notifications — UI is the only entry point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UI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</a:rPr>
              <a:t>localhost (live)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</a:rPr>
              <a:t>(live)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6324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0392B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</a:rPr>
              <a:t>Async job queue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</a:rPr>
              <a:t>Cache check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</a:rPr>
              <a:t>Pipeline trigger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9788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0392B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12801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N8N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26480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</a:rPr>
              <a:t>Notion lookup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</a:rPr>
              <a:t>Slack (always)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</a:rPr>
              <a:t>Gmail (if email)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3931920" cy="59436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7706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7-day cache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992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Notion is checked before running the pipeline — instant results for recent outlets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3931920" cy="59436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27706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Deduplication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Concurrent requests for the same outlet return the same job ID — no double runs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3931920" cy="59436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5021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Async polling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7307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UI polls every 8s. Ethics quiz + media facts panel keeps users engaged during the 7-minute wait.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429000"/>
            <a:ext cx="3931920" cy="59436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3502152"/>
            <a:ext cx="15454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Slack always fires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37307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IP address, outlet, score, email status — whether cache hit or fresh run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0392B"/>
                </a:solidFill>
              </a:rPr>
              <a:t>HARD PROBLEMS SOLVED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broke and how we fixed 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86868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4864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9786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ngrok 30s timeout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356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Fix: Async job queue — POST returns job_id instantly, UI polls every 8s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72821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2A5"/>
                </a:solidFill>
              </a:rPr>
              <a:t>Pipeline can run for 8 minutes without the connection dropping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86868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54864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119786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α = 1.00 everywhere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4356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Fix: Three different GPT model generations with different temperature and personas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00600" y="172821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2A5"/>
                </a:solidFill>
              </a:rPr>
              <a:t>Genuine inter-rater variance — α now ranges 0.78–0.99 across dimensions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023360" cy="86868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148840"/>
            <a:ext cx="54864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20370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Double Slack notifications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4414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Fix: n8n_notified flag on job — background thread checks before firing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73405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2A5"/>
                </a:solidFill>
              </a:rPr>
              <a:t>Exactly one Slack message per analysis regardless of cache path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148840"/>
            <a:ext cx="4023360" cy="86868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2148840"/>
            <a:ext cx="54864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220370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GPT-5.6 temperature error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4414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Fix: GPT-5 models only support temp=1; gpt-4o-mini fallback for failures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73405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2A5"/>
                </a:solidFill>
              </a:rPr>
              <a:t>Evaluations complete reliably with graceful model degradation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4023360" cy="86868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154680"/>
            <a:ext cx="54864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20954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JavaScript onclick undefined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4472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Fix: window.functionName = ... makes functions globally accessible from innerHTML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373989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2A5"/>
                </a:solidFill>
              </a:rPr>
              <a:t>Send to email, download, and cancel all work correctly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154680"/>
            <a:ext cx="4023360" cy="86868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3154680"/>
            <a:ext cx="54864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320954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Cache screen never appeared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34472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Fix: pollJob() now routes to cache screen when Notion lookup completes after first poll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373989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2A5"/>
                </a:solidFill>
              </a:rPr>
              <a:t>Cache decision screen always shown — even when Notion is slower than the first UI poll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D4A853"/>
                </a:solidFill>
              </a:rPr>
              <a:t>BLOCKERS &amp; LIMITATIONS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constraints and honest trade-offs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868680"/>
          </a:xfrm>
          <a:prstGeom prst="rect">
            <a:avLst/>
          </a:prstGeom>
          <a:solidFill>
            <a:srgbClr val="1B2A3B"/>
          </a:solidFill>
          <a:ln w="1270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978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⏱  5–8 minute pipeline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12161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7A4A"/>
                </a:solidFill>
              </a:rPr>
              <a:t>Mitigated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47218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2A5"/>
                </a:solidFill>
              </a:rPr>
              <a:t>Each run makes ~100 API calls and 54 LLM evaluations. Cache mitigates this for repeat queries but first runs are slow.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868680"/>
          </a:xfrm>
          <a:prstGeom prst="rect">
            <a:avLst/>
          </a:prstGeom>
          <a:solidFill>
            <a:srgbClr val="1B2A3B"/>
          </a:solidFill>
          <a:ln w="1270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11978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📰  NewsAPI 30-day limit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12161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853"/>
                </a:solidFill>
              </a:rPr>
              <a:t>Workaround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00600" y="147218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2A5"/>
                </a:solidFill>
              </a:rPr>
              <a:t>Free tier only returns articles from the last 30 days. Guardian API covers 30/90/180 day windows as a substitute.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4023360" cy="868680"/>
          </a:xfrm>
          <a:prstGeom prst="rect">
            <a:avLst/>
          </a:prstGeom>
          <a:solidFill>
            <a:srgbClr val="1B2A3B"/>
          </a:solidFill>
          <a:ln w="1270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20370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🌡  GPT-5.6 temperature restriction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22199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</a:rPr>
              <a:t>Accepted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24780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2A5"/>
                </a:solidFill>
              </a:rPr>
              <a:t>GPT-5.6-Sol and Luna only support temperature=1. This limits fine-grained control over evaluator diversity.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148840"/>
            <a:ext cx="4023360" cy="868680"/>
          </a:xfrm>
          <a:prstGeom prst="rect">
            <a:avLst/>
          </a:prstGeom>
          <a:solidFill>
            <a:srgbClr val="1B2A3B"/>
          </a:solidFill>
          <a:ln w="1270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220370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💻  Render free tier cold starts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63840" y="222199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</a:rPr>
              <a:t>Mitigated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00600" y="24780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2A5"/>
                </a:solidFill>
              </a:rPr>
              <a:t>Deployed at media-intelligence-layer.onrender.com (Frankfurt). Free tier spins down after 15 min inactivity — 30s cold start. Open URL before presenting.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4023360" cy="868680"/>
          </a:xfrm>
          <a:prstGeom prst="rect">
            <a:avLst/>
          </a:prstGeom>
          <a:solidFill>
            <a:srgbClr val="1B2A3B"/>
          </a:solidFill>
          <a:ln w="1270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20954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🔒  N8N Execute Command unavailable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32278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7A4A"/>
                </a:solidFill>
              </a:rPr>
              <a:t>Resolved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34838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2A5"/>
                </a:solidFill>
              </a:rPr>
              <a:t>N8N Cloud does not support Execute Command node. Full orchestration through N8N requires HTTP Request to FastAPI instead.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154680"/>
            <a:ext cx="4023360" cy="868680"/>
          </a:xfrm>
          <a:prstGeom prst="rect">
            <a:avLst/>
          </a:prstGeom>
          <a:solidFill>
            <a:srgbClr val="1B2A3B"/>
          </a:solidFill>
          <a:ln w="1270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320954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GDELT rate limited in dev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63840" y="32278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853"/>
                </a:solidFill>
              </a:rPr>
              <a:t>Workaround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00600" y="34838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2A5"/>
                </a:solidFill>
              </a:rPr>
              <a:t>GDELT blocks rapid requests in development. Guardian API is the primary historical source with a 24h cache layer built.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0392B"/>
                </a:solidFill>
              </a:rPr>
              <a:t>WHAT IS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Extensions planned post-submission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86868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978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📧  Daily Media Briefing Service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7218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User selects topics, agent curates top 5 stories from best outlets per topic, delivered by email daily via N8N scheduled workflow.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86868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11978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🌍  International Outlet Support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47218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Expand beyond English-language outlets. Le Monde, FAZ, El País, Corriere della Sera. Multilingual report generation.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6868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2037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💰  Cost Transparency per Run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4780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Show estimated API cost on cache screen and report. Cache: ~$0.0001. Fresh analysis: ~$0.03. Largest cost driver: 54 LLM evaluations across 3 model generations.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148840"/>
            <a:ext cx="4023360" cy="86868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22037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⚡  Speed Modes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4780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Quick (2-3 min) · Standard (7 min) · Deep (12 min). User selects depth at runtime. Quick mode skips Wayback and GDELT.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4023360" cy="86868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2095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📡  Signal Detection &amp; Alerts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4838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Monitor outlets for significant editorial drift. N8N scheduled workflow triggers Slack alert when an outlet changes direction.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3154680"/>
            <a:ext cx="4023360" cy="868680"/>
          </a:xfrm>
          <a:prstGeom prst="rect">
            <a:avLst/>
          </a:prstGeom>
          <a:solidFill>
            <a:srgbClr val="F0EDE8"/>
          </a:solidFill>
          <a:ln w="12700">
            <a:solidFill>
              <a:srgbClr val="E2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32095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🌐  Floating Analysis Progress Bar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4838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Persistent status bar lets users navigate to Past Reports while analysis runs in background. No lost jobs when browsing.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1025</Words>
  <Application>Microsoft Macintosh PowerPoint</Application>
  <PresentationFormat>On-screen Show (16:9)</PresentationFormat>
  <Paragraphs>188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Ioanna Ioanna</cp:lastModifiedBy>
  <cp:revision>3</cp:revision>
  <dcterms:created xsi:type="dcterms:W3CDTF">2026-07-31T19:02:10Z</dcterms:created>
  <dcterms:modified xsi:type="dcterms:W3CDTF">2026-08-04T16:40:48Z</dcterms:modified>
</cp:coreProperties>
</file>